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Soccer Wall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6E4F0"/>
                </a:solidFill>
              </a:rPr>
              <a:t>Wiring &amp; Architecture Diagrams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April 2026  —  Reference Document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Architecture — Control &amp; Signal Path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920240" cy="77724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94360"/>
            <a:ext cx="1920240" cy="384048"/>
          </a:xfrm>
          <a:prstGeom prst="rect">
            <a:avLst/>
          </a:prstGeom>
          <a:solidFill>
            <a:srgbClr val="2E6099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594360"/>
            <a:ext cx="18470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Device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4904" y="978408"/>
            <a:ext cx="1810512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Any phone/tablet/laptop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with a browser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1920240" cy="109728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74520"/>
            <a:ext cx="1920240" cy="384048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" y="1874520"/>
            <a:ext cx="18470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ESP32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" y="2258568"/>
            <a:ext cx="1810512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Web Server (192.168.4.1)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+ Modbus RTU Master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520440"/>
            <a:ext cx="1920240" cy="77724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520440"/>
            <a:ext cx="1920240" cy="384048"/>
          </a:xfrm>
          <a:prstGeom prst="rect">
            <a:avLst/>
          </a:prstGeom>
          <a:solidFill>
            <a:srgbClr val="2E6099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3520440"/>
            <a:ext cx="18470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MAX485 Module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" y="3904488"/>
            <a:ext cx="1810512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RS-485 Level Converter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280160" y="1371600"/>
            <a:ext cx="914" cy="50292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4168" y="1444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D4ED8"/>
                </a:solidFill>
              </a:rPr>
              <a:t>WiFi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" y="1828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D4ED8"/>
                </a:solidFill>
              </a:rPr>
              <a:t>SOCCER_WALL / 192.168.4.1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280160" y="2971800"/>
            <a:ext cx="914" cy="54864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31363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</a:rPr>
              <a:t>UART2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34640" y="1188720"/>
            <a:ext cx="914" cy="2834640"/>
          </a:xfrm>
          <a:prstGeom prst="line">
            <a:avLst/>
          </a:prstGeom>
          <a:noFill/>
          <a:ln w="25400">
            <a:solidFill>
              <a:srgbClr val="B84E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3909060"/>
            <a:ext cx="594360" cy="0"/>
          </a:xfrm>
          <a:prstGeom prst="line">
            <a:avLst/>
          </a:prstGeom>
          <a:noFill/>
          <a:ln w="25400">
            <a:solidFill>
              <a:srgbClr val="B84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29968" y="233172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84E00"/>
                </a:solidFill>
              </a:rPr>
              <a:t>RS-485 Bus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B84E00"/>
                </a:solidFill>
              </a:rPr>
              <a:t>(Modbus RTU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B84E00"/>
                </a:solidFill>
              </a:rPr>
              <a:t>57,600 baud)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91840" y="685800"/>
            <a:ext cx="2468880" cy="100584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685800"/>
            <a:ext cx="2468880" cy="384048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685800"/>
            <a:ext cx="239572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SV660P Drive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46704" y="1069848"/>
            <a:ext cx="235915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Slave Address: 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0" y="3520440"/>
            <a:ext cx="2468880" cy="100584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3520440"/>
            <a:ext cx="2468880" cy="384048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3520440"/>
            <a:ext cx="239572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SV660P Drive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46704" y="3904488"/>
            <a:ext cx="235915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Slave Address: 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34640" y="1188720"/>
            <a:ext cx="457200" cy="0"/>
          </a:xfrm>
          <a:prstGeom prst="line">
            <a:avLst/>
          </a:prstGeom>
          <a:noFill/>
          <a:ln w="25400">
            <a:solidFill>
              <a:srgbClr val="B84E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70632" y="1124712"/>
            <a:ext cx="128016" cy="128016"/>
          </a:xfrm>
          <a:prstGeom prst="ellipse">
            <a:avLst/>
          </a:prstGeom>
          <a:solidFill>
            <a:srgbClr val="B84E00"/>
          </a:solidFill>
          <a:ln w="12700">
            <a:solidFill>
              <a:srgbClr val="B84E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4023360"/>
            <a:ext cx="457200" cy="0"/>
          </a:xfrm>
          <a:prstGeom prst="line">
            <a:avLst/>
          </a:prstGeom>
          <a:noFill/>
          <a:ln w="25400">
            <a:solidFill>
              <a:srgbClr val="B84E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70632" y="3959352"/>
            <a:ext cx="128016" cy="128016"/>
          </a:xfrm>
          <a:prstGeom prst="ellipse">
            <a:avLst/>
          </a:prstGeom>
          <a:solidFill>
            <a:srgbClr val="B84E00"/>
          </a:solidFill>
          <a:ln w="12700">
            <a:solidFill>
              <a:srgbClr val="B84E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1691640"/>
            <a:ext cx="914" cy="1828800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41264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D4ED8"/>
                </a:solidFill>
              </a:rPr>
              <a:t>Ethernet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1D4ED8"/>
                </a:solidFill>
              </a:rPr>
              <a:t>CN4 → CN3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172200" y="685800"/>
            <a:ext cx="2011680" cy="100584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685800"/>
            <a:ext cx="2011680" cy="384048"/>
          </a:xfrm>
          <a:prstGeom prst="rect">
            <a:avLst/>
          </a:prstGeom>
          <a:solidFill>
            <a:srgbClr val="365F3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08776" y="685800"/>
            <a:ext cx="193852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 1 + Brake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27064" y="1069848"/>
            <a:ext cx="190195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MS1H4-40B30CB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3520440"/>
            <a:ext cx="2011680" cy="100584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3520440"/>
            <a:ext cx="2011680" cy="384048"/>
          </a:xfrm>
          <a:prstGeom prst="rect">
            <a:avLst/>
          </a:prstGeom>
          <a:solidFill>
            <a:srgbClr val="365F3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8776" y="3520440"/>
            <a:ext cx="193852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 2 + Brake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27064" y="3904488"/>
            <a:ext cx="190195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MS1H4-40B30CB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760720" y="1188720"/>
            <a:ext cx="41148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4023360"/>
            <a:ext cx="41148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03920" y="685800"/>
            <a:ext cx="2788920" cy="100584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03920" y="685800"/>
            <a:ext cx="2788920" cy="384048"/>
          </a:xfrm>
          <a:prstGeom prst="rect">
            <a:avLst/>
          </a:prstGeom>
          <a:solidFill>
            <a:srgbClr val="5C3A1E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40496" y="685800"/>
            <a:ext cx="27157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Linear Actuator 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58784" y="1069848"/>
            <a:ext cx="267919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Left side of frame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503920" y="3520440"/>
            <a:ext cx="2788920" cy="100584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3520440"/>
            <a:ext cx="2788920" cy="384048"/>
          </a:xfrm>
          <a:prstGeom prst="rect">
            <a:avLst/>
          </a:prstGeom>
          <a:solidFill>
            <a:srgbClr val="5C3A1E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40496" y="3520440"/>
            <a:ext cx="27157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Linear Actuator 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58784" y="3904488"/>
            <a:ext cx="267919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Right side of frame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183880" y="1188720"/>
            <a:ext cx="32004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83880" y="4023360"/>
            <a:ext cx="32004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4773168"/>
            <a:ext cx="12161520" cy="2011680"/>
          </a:xfrm>
          <a:prstGeom prst="rect">
            <a:avLst/>
          </a:prstGeom>
          <a:solidFill>
            <a:srgbClr val="D6E4F0"/>
          </a:solidFill>
          <a:ln w="12700">
            <a:solidFill>
              <a:srgbClr val="2E60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481888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POWER SUPPLY OVERVIEW  (wiring detail on slides 3 &amp; 4)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5157216"/>
            <a:ext cx="2057400" cy="1207008"/>
          </a:xfrm>
          <a:prstGeom prst="rect">
            <a:avLst/>
          </a:prstGeom>
          <a:solidFill>
            <a:srgbClr val="FFFBE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5157216"/>
            <a:ext cx="2057400" cy="384048"/>
          </a:xfrm>
          <a:prstGeom prst="rect">
            <a:avLst/>
          </a:prstGeom>
          <a:solidFill>
            <a:srgbClr val="7A5C00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6616" y="5157216"/>
            <a:ext cx="198424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24V Battery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74904" y="5541264"/>
            <a:ext cx="1947672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TechCella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CAP-TC24100-NW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560320" y="5157216"/>
            <a:ext cx="2057400" cy="1207008"/>
          </a:xfrm>
          <a:prstGeom prst="rect">
            <a:avLst/>
          </a:prstGeom>
          <a:solidFill>
            <a:srgbClr val="FFFBE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60320" y="5157216"/>
            <a:ext cx="2057400" cy="384048"/>
          </a:xfrm>
          <a:prstGeom prst="rect">
            <a:avLst/>
          </a:prstGeom>
          <a:solidFill>
            <a:srgbClr val="7A5C00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96896" y="5157216"/>
            <a:ext cx="198424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Y&amp;H Inverter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615184" y="5541264"/>
            <a:ext cx="1947672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RS-3200W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24V DC → 120V AC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800600" y="5157216"/>
            <a:ext cx="2057400" cy="1207008"/>
          </a:xfrm>
          <a:prstGeom prst="rect">
            <a:avLst/>
          </a:prstGeom>
          <a:solidFill>
            <a:srgbClr val="FFFBE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00600" y="5157216"/>
            <a:ext cx="2057400" cy="384048"/>
          </a:xfrm>
          <a:prstGeom prst="rect">
            <a:avLst/>
          </a:prstGeom>
          <a:solidFill>
            <a:srgbClr val="7A5C00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37176" y="5157216"/>
            <a:ext cx="198424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Buck Converter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855464" y="5541264"/>
            <a:ext cx="1947672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24V → 5V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for ESP32 logic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040880" y="5157216"/>
            <a:ext cx="2194560" cy="1207008"/>
          </a:xfrm>
          <a:prstGeom prst="rect">
            <a:avLst/>
          </a:prstGeom>
          <a:solidFill>
            <a:srgbClr val="FFFBE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040880" y="5157216"/>
            <a:ext cx="2194560" cy="384048"/>
          </a:xfrm>
          <a:prstGeom prst="rect">
            <a:avLst/>
          </a:prstGeom>
          <a:solidFill>
            <a:srgbClr val="7A5C00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77456" y="5157216"/>
            <a:ext cx="212140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Brake Supply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095744" y="5541264"/>
            <a:ext cx="2084832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24V wall wart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for motor brakes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509760" y="5157216"/>
            <a:ext cx="2377440" cy="1207008"/>
          </a:xfrm>
          <a:prstGeom prst="rect">
            <a:avLst/>
          </a:prstGeom>
          <a:solidFill>
            <a:srgbClr val="F0F0F0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09760" y="5157216"/>
            <a:ext cx="2377440" cy="384048"/>
          </a:xfrm>
          <a:prstGeom prst="rect">
            <a:avLst/>
          </a:prstGeom>
          <a:solidFill>
            <a:srgbClr val="4A4A4A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546336" y="5157216"/>
            <a:ext cx="23042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Frame / Structure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564624" y="5541264"/>
            <a:ext cx="2267712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~6×6 ft, ~90 lb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 Power Distribution — Inverter to Servo Drives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2286000" cy="512064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685800"/>
            <a:ext cx="2286000" cy="384048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685800"/>
            <a:ext cx="221284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Y&amp;H Inverter (RS-3200W)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BATTERY INPUT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011680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11480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AC OUTPUT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9748" y="1440180"/>
            <a:ext cx="100584" cy="1005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716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BATT+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9748" y="1714500"/>
            <a:ext cx="100584" cy="1005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45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BATT−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55748" y="2692908"/>
            <a:ext cx="100584" cy="100584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2624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B3F00"/>
                </a:solidFill>
              </a:rPr>
              <a:t>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55748" y="3835908"/>
            <a:ext cx="100584" cy="1005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55748" y="4978908"/>
            <a:ext cx="100584" cy="100584"/>
          </a:xfrm>
          <a:prstGeom prst="ellipse">
            <a:avLst/>
          </a:prstGeom>
          <a:solidFill>
            <a:srgbClr val="2D7A2D"/>
          </a:solidFill>
          <a:ln w="12700">
            <a:solidFill>
              <a:srgbClr val="2D7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4910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A2D"/>
                </a:solidFill>
              </a:rPr>
              <a:t>⏚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83080" y="23774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AC OUT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2578608"/>
            <a:ext cx="914400" cy="329184"/>
          </a:xfrm>
          <a:prstGeom prst="rect">
            <a:avLst/>
          </a:prstGeom>
          <a:solidFill>
            <a:srgbClr val="7B3F00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57860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WAGO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721608"/>
            <a:ext cx="914400" cy="329184"/>
          </a:xfrm>
          <a:prstGeom prst="rect">
            <a:avLst/>
          </a:prstGeom>
          <a:solidFill>
            <a:srgbClr val="1D4ED8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72160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WAGO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4864608"/>
            <a:ext cx="914400" cy="329184"/>
          </a:xfrm>
          <a:prstGeom prst="rect">
            <a:avLst/>
          </a:prstGeom>
          <a:solidFill>
            <a:srgbClr val="2D7A2D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86460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WAGO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29600" y="685800"/>
            <a:ext cx="3657600" cy="233172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685800"/>
            <a:ext cx="3657600" cy="384048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6176" y="685800"/>
            <a:ext cx="358444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SV660P Drive 1  (Slave Addr: 1)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474720"/>
            <a:ext cx="3657600" cy="233172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474720"/>
            <a:ext cx="3657600" cy="384048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66176" y="3474720"/>
            <a:ext cx="358444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SV660P Drive 2  (Slave Addr: 2)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1143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AC INPUT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21040" y="3931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AC INPUT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179308" y="1504188"/>
            <a:ext cx="100584" cy="100584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1435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3F00"/>
                </a:solidFill>
              </a:rPr>
              <a:t>L1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179308" y="2052828"/>
            <a:ext cx="100584" cy="1005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L2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179308" y="2601468"/>
            <a:ext cx="100584" cy="100584"/>
          </a:xfrm>
          <a:prstGeom prst="ellipse">
            <a:avLst/>
          </a:prstGeom>
          <a:solidFill>
            <a:srgbClr val="2D7A2D"/>
          </a:solidFill>
          <a:ln w="12700">
            <a:solidFill>
              <a:srgbClr val="2D7A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0" y="2532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7A2D"/>
                </a:solidFill>
              </a:rPr>
              <a:t>PE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79308" y="4293108"/>
            <a:ext cx="100584" cy="100584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4224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3F00"/>
                </a:solidFill>
              </a:rPr>
              <a:t>L1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179308" y="4841748"/>
            <a:ext cx="100584" cy="1005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4773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L2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179308" y="5390388"/>
            <a:ext cx="100584" cy="100584"/>
          </a:xfrm>
          <a:prstGeom prst="ellipse">
            <a:avLst/>
          </a:prstGeom>
          <a:solidFill>
            <a:srgbClr val="2D7A2D"/>
          </a:solidFill>
          <a:ln w="12700">
            <a:solidFill>
              <a:srgbClr val="2D7A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5321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7A2D"/>
                </a:solidFill>
              </a:rPr>
              <a:t>PE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606040" y="2743200"/>
            <a:ext cx="2057400" cy="0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7840" y="2743200"/>
            <a:ext cx="1097280" cy="0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11112" y="2679192"/>
            <a:ext cx="128016" cy="128016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75120" y="1554480"/>
            <a:ext cx="914" cy="1188720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0" y="1554480"/>
            <a:ext cx="1554480" cy="0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75120" y="2743200"/>
            <a:ext cx="914" cy="1600200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75120" y="4343400"/>
            <a:ext cx="1554480" cy="0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06040" y="3886200"/>
            <a:ext cx="205740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3886200"/>
            <a:ext cx="141732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31152" y="3822192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95160" y="2103120"/>
            <a:ext cx="914" cy="178308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95160" y="2103120"/>
            <a:ext cx="12344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95160" y="3886200"/>
            <a:ext cx="914" cy="100584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95160" y="4892040"/>
            <a:ext cx="12344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06040" y="5029200"/>
            <a:ext cx="2057400" cy="0"/>
          </a:xfrm>
          <a:prstGeom prst="line">
            <a:avLst/>
          </a:prstGeom>
          <a:noFill/>
          <a:ln w="31750">
            <a:solidFill>
              <a:srgbClr val="2D7A2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77840" y="5029200"/>
            <a:ext cx="1737360" cy="0"/>
          </a:xfrm>
          <a:prstGeom prst="line">
            <a:avLst/>
          </a:prstGeom>
          <a:noFill/>
          <a:ln w="31750">
            <a:solidFill>
              <a:srgbClr val="2D7A2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51192" y="4965192"/>
            <a:ext cx="128016" cy="128016"/>
          </a:xfrm>
          <a:prstGeom prst="ellipse">
            <a:avLst/>
          </a:prstGeom>
          <a:solidFill>
            <a:srgbClr val="2D7A2D"/>
          </a:solidFill>
          <a:ln w="12700">
            <a:solidFill>
              <a:srgbClr val="2D7A2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00" y="2651760"/>
            <a:ext cx="914" cy="2377440"/>
          </a:xfrm>
          <a:prstGeom prst="line">
            <a:avLst/>
          </a:prstGeom>
          <a:noFill/>
          <a:ln w="31750">
            <a:solidFill>
              <a:srgbClr val="2D7A2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00" y="2651760"/>
            <a:ext cx="914400" cy="0"/>
          </a:xfrm>
          <a:prstGeom prst="line">
            <a:avLst/>
          </a:prstGeom>
          <a:noFill/>
          <a:ln w="31750">
            <a:solidFill>
              <a:srgbClr val="2D7A2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0" y="5029200"/>
            <a:ext cx="914" cy="411480"/>
          </a:xfrm>
          <a:prstGeom prst="line">
            <a:avLst/>
          </a:prstGeom>
          <a:noFill/>
          <a:ln w="31750">
            <a:solidFill>
              <a:srgbClr val="2D7A2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5440680"/>
            <a:ext cx="914400" cy="0"/>
          </a:xfrm>
          <a:prstGeom prst="line">
            <a:avLst/>
          </a:prstGeom>
          <a:noFill/>
          <a:ln w="31750">
            <a:solidFill>
              <a:srgbClr val="2D7A2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5760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Wire Colors: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38328" y="6099048"/>
            <a:ext cx="411480" cy="91440"/>
          </a:xfrm>
          <a:prstGeom prst="rect">
            <a:avLst/>
          </a:prstGeom>
          <a:solidFill>
            <a:srgbClr val="7B3F00"/>
          </a:solidFill>
          <a:ln w="6350">
            <a:solidFill>
              <a:srgbClr val="7B3F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960" y="6035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Brown — L (Line)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38328" y="6345936"/>
            <a:ext cx="411480" cy="9144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2960" y="62819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Blue — N (Neutral)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38328" y="6592824"/>
            <a:ext cx="411480" cy="91440"/>
          </a:xfrm>
          <a:prstGeom prst="rect">
            <a:avLst/>
          </a:prstGeom>
          <a:solidFill>
            <a:srgbClr val="2D7A2D"/>
          </a:solidFill>
          <a:ln w="6350">
            <a:solidFill>
              <a:srgbClr val="2D7A2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2960" y="652881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Green/Yellow — PE (Protective Earth)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200400" y="5806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</a:rPr>
              <a:t>Wago lever connectors provide 3-way junction for each conductor (inverter + 2 drives).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DC Power &amp; Brake Wiring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</a:rPr>
              <a:t>A — Battery DC Input to Inverter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11430000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2194560" cy="201168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87552"/>
            <a:ext cx="2194560" cy="384048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987552"/>
            <a:ext cx="212140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24V Battery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" y="1371600"/>
            <a:ext cx="2084832" cy="16276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TechCella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CAP-TC24100-NW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4308" y="1458468"/>
            <a:ext cx="100584" cy="1005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389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BATTERY +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4308" y="2281428"/>
            <a:ext cx="100584" cy="1005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212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BATTERY 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24328" y="15819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CA3AF"/>
                </a:solidFill>
              </a:rPr>
              <a:t>(red circle / white plus)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624328" y="24048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CA3AF"/>
                </a:solidFill>
              </a:rPr>
              <a:t>(white circle / black minus)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120640" y="987552"/>
            <a:ext cx="2377440" cy="201168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987552"/>
            <a:ext cx="2377440" cy="384048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987552"/>
            <a:ext cx="23042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Y&amp;H Inverter (RS-3200W)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75504" y="1371600"/>
            <a:ext cx="2267712" cy="16276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DC INPUT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70348" y="1458468"/>
            <a:ext cx="100584" cy="1005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389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DC +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70348" y="2281428"/>
            <a:ext cx="100584" cy="1005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212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DC −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14600" y="1508760"/>
            <a:ext cx="2606040" cy="0"/>
          </a:xfrm>
          <a:prstGeom prst="line">
            <a:avLst/>
          </a:prstGeom>
          <a:noFill/>
          <a:ln w="31750">
            <a:solidFill>
              <a:srgbClr val="B91C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1860" y="1197864"/>
            <a:ext cx="7315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1860" y="11978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1C1C"/>
                </a:solidFill>
              </a:rPr>
              <a:t>24V +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14600" y="2331720"/>
            <a:ext cx="2606040" cy="0"/>
          </a:xfrm>
          <a:prstGeom prst="line">
            <a:avLst/>
          </a:prstGeom>
          <a:noFill/>
          <a:ln w="31750">
            <a:solidFill>
              <a:srgbClr val="1118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51860" y="2386584"/>
            <a:ext cx="7315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1860" y="23865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24V −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20640" y="2743200"/>
            <a:ext cx="2377440" cy="804672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2743200"/>
            <a:ext cx="2377440" cy="384048"/>
          </a:xfrm>
          <a:prstGeom prst="rect">
            <a:avLst/>
          </a:prstGeom>
          <a:solidFill>
            <a:srgbClr val="2E6099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2743200"/>
            <a:ext cx="23042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Buck Converter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75504" y="3127248"/>
            <a:ext cx="226771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24V → 5V for ESP32 logic power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70348" y="3040380"/>
            <a:ext cx="100584" cy="1005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971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24V IN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47788" y="3040380"/>
            <a:ext cx="100584" cy="10058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971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47857"/>
                </a:solidFill>
              </a:rPr>
              <a:t>5V OUT →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" y="303580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CA3AF"/>
                </a:solidFill>
              </a:rPr>
              <a:t>(tapped from 24V battery bus)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0040" y="37490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</a:rPr>
              <a:t>B — Brake Power Supply to Motor Brakes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032504"/>
            <a:ext cx="11430000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160520"/>
            <a:ext cx="2194560" cy="237744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160520"/>
            <a:ext cx="2194560" cy="384048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" y="4160520"/>
            <a:ext cx="212140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Brake Power Supply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4904" y="4544568"/>
            <a:ext cx="2084832" cy="19933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24V wall wart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(independent from inverter)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64308" y="4704588"/>
            <a:ext cx="100584" cy="100584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08760" y="4636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B3F00"/>
                </a:solidFill>
              </a:rPr>
              <a:t>Brown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464308" y="5344668"/>
            <a:ext cx="100584" cy="1005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08760" y="5276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Blue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64308" y="5984748"/>
            <a:ext cx="100584" cy="100584"/>
          </a:xfrm>
          <a:prstGeom prst="ellipse">
            <a:avLst/>
          </a:prstGeom>
          <a:solidFill>
            <a:srgbClr val="2D7A2D"/>
          </a:solidFill>
          <a:ln w="12700">
            <a:solidFill>
              <a:srgbClr val="2D7A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5916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A2D"/>
                </a:solidFill>
              </a:rPr>
              <a:t>G/Y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" y="6355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CA3AF"/>
                </a:solidFill>
              </a:rPr>
              <a:t>stripped cable,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CA3AF"/>
                </a:solidFill>
              </a:rPr>
              <a:t>no connector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657600" y="4590288"/>
            <a:ext cx="914400" cy="329184"/>
          </a:xfrm>
          <a:prstGeom prst="rect">
            <a:avLst/>
          </a:prstGeom>
          <a:solidFill>
            <a:srgbClr val="7B3F00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59028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WAGO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0" y="5230368"/>
            <a:ext cx="914400" cy="329184"/>
          </a:xfrm>
          <a:prstGeom prst="rect">
            <a:avLst/>
          </a:prstGeom>
          <a:solidFill>
            <a:srgbClr val="1D4ED8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0" y="523036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WAGO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14600" y="6035040"/>
            <a:ext cx="1600200" cy="0"/>
          </a:xfrm>
          <a:prstGeom prst="line">
            <a:avLst/>
          </a:prstGeom>
          <a:noFill/>
          <a:ln w="31750">
            <a:solidFill>
              <a:srgbClr val="2D7A2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87952" y="59070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D7A2D"/>
                </a:solidFill>
              </a:rPr>
              <a:t>→ PE / chassis ground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58000" y="4206240"/>
            <a:ext cx="3200400" cy="841248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58000" y="4206240"/>
            <a:ext cx="3200400" cy="384048"/>
          </a:xfrm>
          <a:prstGeom prst="rect">
            <a:avLst/>
          </a:prstGeom>
          <a:solidFill>
            <a:srgbClr val="365F3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94576" y="4206240"/>
            <a:ext cx="312724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 1 — Brake Connector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58000" y="5349240"/>
            <a:ext cx="3200400" cy="841248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0" y="5349240"/>
            <a:ext cx="3200400" cy="384048"/>
          </a:xfrm>
          <a:prstGeom prst="rect">
            <a:avLst/>
          </a:prstGeom>
          <a:solidFill>
            <a:srgbClr val="365F3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94576" y="5349240"/>
            <a:ext cx="312724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 2 — Brake Connector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807708" y="4686300"/>
            <a:ext cx="100584" cy="100584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0" y="4617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3F00"/>
                </a:solidFill>
              </a:rPr>
              <a:t>BRAKE +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807708" y="4905756"/>
            <a:ext cx="100584" cy="1005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9440" y="48371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BRAKE −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807708" y="5829300"/>
            <a:ext cx="100584" cy="100584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49440" y="5760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3F00"/>
                </a:solidFill>
              </a:rPr>
              <a:t>BRAKE +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807708" y="6048756"/>
            <a:ext cx="100584" cy="1005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49440" y="59801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BRAKE −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967728" y="4800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CA3AF"/>
                </a:solidFill>
              </a:rPr>
              <a:t>(brown wire, ferrule)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967728" y="50200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CA3AF"/>
                </a:solidFill>
              </a:rPr>
              <a:t>(blue wire, ferrule)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967728" y="5943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CA3AF"/>
                </a:solidFill>
              </a:rPr>
              <a:t>(brown wire, ferrule)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967728" y="61630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CA3AF"/>
                </a:solidFill>
              </a:rPr>
              <a:t>(blue wire, ferrule)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514600" y="4754880"/>
            <a:ext cx="1143000" cy="0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0" y="4754880"/>
            <a:ext cx="1097280" cy="0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05272" y="4690872"/>
            <a:ext cx="128016" cy="128016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0" y="4736592"/>
            <a:ext cx="914" cy="18288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69280" y="4736592"/>
            <a:ext cx="1188720" cy="0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669280" y="4754880"/>
            <a:ext cx="914" cy="1124712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669280" y="5879592"/>
            <a:ext cx="1188720" cy="0"/>
          </a:xfrm>
          <a:prstGeom prst="line">
            <a:avLst/>
          </a:prstGeom>
          <a:noFill/>
          <a:ln w="31750">
            <a:solidFill>
              <a:srgbClr val="7B3F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514600" y="5394960"/>
            <a:ext cx="114300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0" y="5394960"/>
            <a:ext cx="141732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25312" y="5330952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4956048"/>
            <a:ext cx="914" cy="438912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989320" y="4956048"/>
            <a:ext cx="86868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89320" y="5394960"/>
            <a:ext cx="914" cy="704088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89320" y="6099048"/>
            <a:ext cx="86868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00" y="1005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Wire Colors: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247888" y="1344168"/>
            <a:ext cx="411480" cy="9144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732520" y="1280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Red — 24V DC+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8247888" y="1591056"/>
            <a:ext cx="411480" cy="91440"/>
          </a:xfrm>
          <a:prstGeom prst="rect">
            <a:avLst/>
          </a:prstGeom>
          <a:solidFill>
            <a:srgbClr val="111827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732520" y="152704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Black — 24V DC−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247888" y="1837944"/>
            <a:ext cx="411480" cy="91440"/>
          </a:xfrm>
          <a:prstGeom prst="rect">
            <a:avLst/>
          </a:prstGeom>
          <a:solidFill>
            <a:srgbClr val="7B3F00"/>
          </a:solidFill>
          <a:ln w="6350">
            <a:solidFill>
              <a:srgbClr val="7B3F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732520" y="177393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Brown — Brake+ (no polarity on coil)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247888" y="2084832"/>
            <a:ext cx="411480" cy="9144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732520" y="20208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Blue — Brake− (no polarity on coil)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8247888" y="2331720"/>
            <a:ext cx="411480" cy="91440"/>
          </a:xfrm>
          <a:prstGeom prst="rect">
            <a:avLst/>
          </a:prstGeom>
          <a:solidFill>
            <a:srgbClr val="2D7A2D"/>
          </a:solidFill>
          <a:ln w="6350">
            <a:solidFill>
              <a:srgbClr val="2D7A2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732520" y="22677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Green/Yellow — PE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RS-485 Communications — Pin-Level Wiring Detail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03120" cy="425196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2103120" cy="384048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685800"/>
            <a:ext cx="20299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ESP32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" y="1069848"/>
            <a:ext cx="1993392" cy="3867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Microcontroller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685800"/>
            <a:ext cx="2103120" cy="425196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685800"/>
            <a:ext cx="2103120" cy="384048"/>
          </a:xfrm>
          <a:prstGeom prst="rect">
            <a:avLst/>
          </a:prstGeom>
          <a:solidFill>
            <a:srgbClr val="2E6099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696" y="685800"/>
            <a:ext cx="20299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MAX485 Module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00984" y="1069848"/>
            <a:ext cx="1993392" cy="3867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RS-485 Level Converter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0" y="685800"/>
            <a:ext cx="1188720" cy="347472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685800"/>
            <a:ext cx="1188720" cy="438912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4576" y="685800"/>
            <a:ext cx="11155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CN3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4389120"/>
            <a:ext cx="1188720" cy="82296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4389120"/>
            <a:ext cx="1188720" cy="411480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4389120"/>
            <a:ext cx="111556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CN4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0" y="685800"/>
            <a:ext cx="2286000" cy="3474720"/>
          </a:xfrm>
          <a:prstGeom prst="rect">
            <a:avLst/>
          </a:prstGeom>
          <a:solidFill>
            <a:srgbClr val="F3F4F6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685800"/>
            <a:ext cx="2286000" cy="438912"/>
          </a:xfrm>
          <a:prstGeom prst="rect">
            <a:avLst/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37776" y="685800"/>
            <a:ext cx="221284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CN3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33832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SV660P Drive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0" y="3383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SV660P Drive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27148" y="1367028"/>
            <a:ext cx="100584" cy="10058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1298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47857"/>
                </a:solidFill>
              </a:rPr>
              <a:t>GPIO 17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047857"/>
                </a:solidFill>
              </a:rPr>
              <a:t>(UART2 TX)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27148" y="2098548"/>
            <a:ext cx="100584" cy="100584"/>
          </a:xfrm>
          <a:prstGeom prst="ellipse">
            <a:avLst/>
          </a:prstGeom>
          <a:solidFill>
            <a:srgbClr val="B84E00"/>
          </a:solidFill>
          <a:ln w="12700">
            <a:solidFill>
              <a:srgbClr val="B84E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2029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4E00"/>
                </a:solidFill>
              </a:rPr>
              <a:t>GPIO 16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B84E00"/>
                </a:solidFill>
              </a:rPr>
              <a:t>(UART2 RX)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27148" y="2830068"/>
            <a:ext cx="100584" cy="1005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27614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28D9"/>
                </a:solidFill>
              </a:rPr>
              <a:t>GPIO 4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6D28D9"/>
                </a:solidFill>
              </a:rPr>
              <a:t>(DE / RE)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327148" y="3835908"/>
            <a:ext cx="100584" cy="1005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GND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195828" y="1367028"/>
            <a:ext cx="100584" cy="10058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1298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47857"/>
                </a:solidFill>
              </a:rPr>
              <a:t>DI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95828" y="2098548"/>
            <a:ext cx="100584" cy="100584"/>
          </a:xfrm>
          <a:prstGeom prst="ellipse">
            <a:avLst/>
          </a:prstGeom>
          <a:solidFill>
            <a:srgbClr val="B84E00"/>
          </a:solidFill>
          <a:ln w="12700">
            <a:solidFill>
              <a:srgbClr val="B84E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2029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4E00"/>
                </a:solidFill>
              </a:rPr>
              <a:t>RO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95828" y="2830068"/>
            <a:ext cx="100584" cy="1005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7614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D28D9"/>
                </a:solidFill>
              </a:rPr>
              <a:t>DE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95828" y="3122676"/>
            <a:ext cx="100584" cy="1005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0540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D28D9"/>
                </a:solidFill>
              </a:rPr>
              <a:t>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95828" y="3835908"/>
            <a:ext cx="100584" cy="1005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GND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298948" y="1778508"/>
            <a:ext cx="100584" cy="100584"/>
          </a:xfrm>
          <a:prstGeom prst="ellipse">
            <a:avLst/>
          </a:prstGeom>
          <a:solidFill>
            <a:srgbClr val="B84E00"/>
          </a:solidFill>
          <a:ln w="12700">
            <a:solidFill>
              <a:srgbClr val="B84E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1709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4E00"/>
                </a:solidFill>
              </a:rPr>
              <a:t>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98948" y="2647188"/>
            <a:ext cx="100584" cy="1005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3400" y="2578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28D9"/>
                </a:solidFill>
              </a:rPr>
              <a:t>B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298948" y="3515868"/>
            <a:ext cx="100584" cy="1005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3400" y="34472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GND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07708" y="1778508"/>
            <a:ext cx="100584" cy="100584"/>
          </a:xfrm>
          <a:prstGeom prst="ellipse">
            <a:avLst/>
          </a:prstGeom>
          <a:solidFill>
            <a:srgbClr val="B84E00"/>
          </a:solidFill>
          <a:ln w="12700">
            <a:solidFill>
              <a:srgbClr val="B84E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1709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4E00"/>
                </a:solidFill>
              </a:rPr>
              <a:t>Pin 4  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07708" y="2647188"/>
            <a:ext cx="100584" cy="1005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0" y="2578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D28D9"/>
                </a:solidFill>
              </a:rPr>
              <a:t>Pin 5  B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807708" y="3515868"/>
            <a:ext cx="100584" cy="1005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34472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Pin 8  GND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550908" y="1778508"/>
            <a:ext cx="100584" cy="100584"/>
          </a:xfrm>
          <a:prstGeom prst="ellipse">
            <a:avLst/>
          </a:prstGeom>
          <a:solidFill>
            <a:srgbClr val="B84E00"/>
          </a:solidFill>
          <a:ln w="12700">
            <a:solidFill>
              <a:srgbClr val="B84E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92640" y="1709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4E00"/>
                </a:solidFill>
              </a:rPr>
              <a:t>Pin 4  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550908" y="2647188"/>
            <a:ext cx="100584" cy="1005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92640" y="2578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D28D9"/>
                </a:solidFill>
              </a:rPr>
              <a:t>Pin 5  B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550908" y="3515868"/>
            <a:ext cx="100584" cy="1005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92640" y="34472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Pin 8  GND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377440" y="1417320"/>
            <a:ext cx="868680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2148840"/>
            <a:ext cx="868680" cy="0"/>
          </a:xfrm>
          <a:prstGeom prst="line">
            <a:avLst/>
          </a:prstGeom>
          <a:noFill/>
          <a:ln w="31750">
            <a:solidFill>
              <a:srgbClr val="B84E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2880360"/>
            <a:ext cx="868680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3886200"/>
            <a:ext cx="868680" cy="0"/>
          </a:xfrm>
          <a:prstGeom prst="line">
            <a:avLst/>
          </a:prstGeom>
          <a:noFill/>
          <a:ln w="31750">
            <a:solidFill>
              <a:srgbClr val="11182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44952" y="2880360"/>
            <a:ext cx="914" cy="292608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44952" y="3172968"/>
            <a:ext cx="201168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0" y="2916936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D28D9"/>
                </a:solidFill>
              </a:rPr>
              <a:t>DE+RE</a:t>
            </a:r>
            <a:endParaRPr lang="en-US" sz="700" dirty="0"/>
          </a:p>
          <a:p>
            <a:pPr algn="r" indent="0" marL="0">
              <a:buNone/>
            </a:pPr>
            <a:r>
              <a:rPr lang="en-US" sz="700" i="1" dirty="0">
                <a:solidFill>
                  <a:srgbClr val="6D28D9"/>
                </a:solidFill>
              </a:rPr>
              <a:t>bridged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349240" y="1828800"/>
            <a:ext cx="1508760" cy="0"/>
          </a:xfrm>
          <a:prstGeom prst="line">
            <a:avLst/>
          </a:prstGeom>
          <a:noFill/>
          <a:ln w="31750">
            <a:solidFill>
              <a:srgbClr val="B84E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49240" y="2697480"/>
            <a:ext cx="1508760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49240" y="3566160"/>
            <a:ext cx="1508760" cy="0"/>
          </a:xfrm>
          <a:prstGeom prst="line">
            <a:avLst/>
          </a:prstGeom>
          <a:noFill/>
          <a:ln w="31750">
            <a:solidFill>
              <a:srgbClr val="11182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49240" y="1325880"/>
            <a:ext cx="1508760" cy="384048"/>
          </a:xfrm>
          <a:prstGeom prst="rect">
            <a:avLst/>
          </a:prstGeom>
          <a:solidFill>
            <a:srgbClr val="FFF8E8"/>
          </a:solidFill>
          <a:ln w="12700">
            <a:solidFill>
              <a:srgbClr val="C9A227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5422392" y="1335024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5C00"/>
                </a:solidFill>
              </a:rPr>
              <a:t>Assembled patch cable  (RJ45 plug → CN3 socket)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812280" y="482803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CN3 and CN4 are internally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tied (pins physically shorted)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046720" y="4800600"/>
            <a:ext cx="6400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86800" y="2423160"/>
            <a:ext cx="914" cy="23774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86800" y="2423160"/>
            <a:ext cx="9144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4892040"/>
            <a:ext cx="137160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56448" y="49103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Straight-through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Ethernet cable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20040" y="5074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Wire Colors: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38328" y="5413248"/>
            <a:ext cx="411480" cy="91440"/>
          </a:xfrm>
          <a:prstGeom prst="rect">
            <a:avLst/>
          </a:prstGeom>
          <a:solidFill>
            <a:srgbClr val="047857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0" y="53492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Green — UART2 TX  (ESP32 → MAX485 DI)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38328" y="5660136"/>
            <a:ext cx="411480" cy="91440"/>
          </a:xfrm>
          <a:prstGeom prst="rect">
            <a:avLst/>
          </a:prstGeom>
          <a:solidFill>
            <a:srgbClr val="B84E00"/>
          </a:solidFill>
          <a:ln w="6350">
            <a:solidFill>
              <a:srgbClr val="B84E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2960" y="55961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Orange — UART2 RX / RS-485 A  (RO out / A line)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38328" y="5907024"/>
            <a:ext cx="411480" cy="91440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2960" y="584301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Purple — DE/RE control / RS-485 B line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38328" y="6153912"/>
            <a:ext cx="411480" cy="91440"/>
          </a:xfrm>
          <a:prstGeom prst="rect">
            <a:avLst/>
          </a:prstGeom>
          <a:solidFill>
            <a:srgbClr val="111827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2960" y="608990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Black — Common GND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38328" y="6400800"/>
            <a:ext cx="411480" cy="9144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2960" y="63367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Blue — Ethernet daisy-chain (CN4 → CN3)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212080" y="510235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</a:rPr>
              <a:t>RJ45 pin numbering: 1–8 left-to-right looking at the connector face (tab down).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</a:rPr>
              <a:t>CN3 and CN4 are internally shorted on the SV660P — CN4 is a pass-through that daisy-chains the bus to the next drive.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2026-04-30T17:11:59Z</dcterms:created>
  <dcterms:modified xsi:type="dcterms:W3CDTF">2026-04-30T17:11:59Z</dcterms:modified>
</cp:coreProperties>
</file>